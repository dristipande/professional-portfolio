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9440f51-3de4-b331-9fca-ea517271978a}">
          <p14:sldIdLst>
            <p14:sldId id="256"/>
          </p14:sldIdLst>
        </p14:section>
        <p14:section name="Overview" id="{ec7b39f1-8314-fd44-3f38-06b760f0f4c1}">
          <p14:sldIdLst>
            <p14:sldId id="257"/>
          </p14:sldIdLst>
        </p14:section>
        <p14:section name="Origins" id="{8764e366-36e3-eee5-db40-fcb961561744}">
          <p14:sldIdLst>
            <p14:sldId id="258"/>
          </p14:sldIdLst>
        </p14:section>
        <p14:section name="Winters" id="{416dc5f2-5bf5-14e9-3c3f-5d3a8187a840}">
          <p14:sldIdLst>
            <p14:sldId id="259"/>
            <p14:sldId id="260"/>
          </p14:sldIdLst>
        </p14:section>
        <p14:section name="Milestones" id="{a7320ea5-0249-61b0-30d3-41ae31324191}">
          <p14:sldIdLst>
            <p14:sldId id="261"/>
          </p14:sldIdLst>
        </p14:section>
        <p14:section name="Deep learning" id="{9de0c817-3704-f480-da12-41541bb23452}">
          <p14:sldIdLst>
            <p14:sldId id="262"/>
          </p14:sldIdLst>
        </p14:section>
        <p14:section name="Generative AI" id="{e43ed226-c5be-9013-fcd8-0d07dc1d758b}">
          <p14:sldIdLst>
            <p14:sldId id="263"/>
          </p14:sldIdLst>
        </p14:section>
        <p14:section name="Today" id="{e31e8385-1481-ec5d-7783-899f3ebceadc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how AI developed over roughly eighty years, why progress came in waves, and what finally made modern AI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eras left to right. Point out that red blocks are growth periods and gray blocks are winters.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people: Warren McCulloch, Walter Pitts, Alan Turing, John McCarthy, Marvin Minsky, Claude Shannon, Nathaniel Rochester, Frank Rosenblatt.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winter followed bold promises that early systems could not keep. Sources: James Lighthill, DARPA, Minsky and Papert.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winter followed a commercial boom. Notice that backpropagation, the idea behind modern deep learning, appeared during this period but needed more computing power.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milestone moved from a narrow, rule-based game to broader pattern learning. Go is far harder than chess because of how many positions are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Hardware, cloud access, data, and algorithms had to arrive together. Any one alone was not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Generative AI builds on the Transformer. ChatGPT in late 2022 brought it to the general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Snapshot only. Model names change quickly, so verify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connecting history to practice: be skeptical of hype, understand what enables progress, and keep human judgment in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45720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188720"/>
            <a:ext cx="53035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large"/>
          <p:cNvSpPr/>
          <p:nvPr/>
        </p:nvSpPr>
        <p:spPr>
          <a:xfrm>
            <a:off x="6035040" y="822960"/>
            <a:ext cx="3474720" cy="3474720"/>
          </a:xfrm>
          <a:prstGeom prst="ellipse">
            <a:avLst/>
          </a:prstGeom>
          <a:solidFill>
            <a:schemeClr val="accent1">
              <a:alpha val="8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 circle small"/>
          <p:cNvSpPr/>
          <p:nvPr/>
        </p:nvSpPr>
        <p:spPr>
          <a:xfrm>
            <a:off x="7680960" y="3291840"/>
            <a:ext cx="1463040" cy="14630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40080" y="118872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 Timeline of Artificial Intelligence</a:t>
            </a:r>
            <a:endParaRPr lang="en-US" sz="4000" dirty="0"/>
          </a:p>
        </p:txBody>
      </p:sp>
      <p:sp>
        <p:nvSpPr>
          <p:cNvPr id="5" name="Subtitle"/>
          <p:cNvSpPr txBox="1"/>
          <p:nvPr/>
        </p:nvSpPr>
        <p:spPr>
          <a:xfrm>
            <a:off x="640080" y="30175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From the 1940s to generative AI, with two AI winters along the way</a:t>
            </a:r>
            <a:endParaRPr lang="en-US" sz="1800" dirty="0"/>
          </a:p>
        </p:txBody>
      </p:sp>
      <p:sp>
        <p:nvSpPr>
          <p:cNvPr id="6" name="Byline"/>
          <p:cNvSpPr txBox="1"/>
          <p:nvPr/>
        </p:nvSpPr>
        <p:spPr>
          <a:xfrm>
            <a:off x="64008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Dristi Pande  |  AIML-500  |  Indiana Wesleyan University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Eight decades in seven eras</a:t>
            </a:r>
            <a:endParaRPr lang="en-US" sz="3200" dirty="0"/>
          </a:p>
        </p:txBody>
      </p:sp>
      <p:sp>
        <p:nvSpPr>
          <p:cNvPr id="3" name="Era block 1"/>
          <p:cNvSpPr/>
          <p:nvPr/>
        </p:nvSpPr>
        <p:spPr>
          <a:xfrm>
            <a:off x="457200" y="1737360"/>
            <a:ext cx="1097280" cy="155448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Era label 1"/>
          <p:cNvSpPr txBox="1"/>
          <p:nvPr/>
        </p:nvSpPr>
        <p:spPr>
          <a:xfrm>
            <a:off x="457200" y="1737360"/>
            <a:ext cx="109728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Foundations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1943–1956</a:t>
            </a:r>
            <a:endParaRPr lang="en-US" sz="1400" dirty="0"/>
          </a:p>
        </p:txBody>
      </p:sp>
      <p:sp>
        <p:nvSpPr>
          <p:cNvPr id="5" name="Era block 2"/>
          <p:cNvSpPr/>
          <p:nvPr/>
        </p:nvSpPr>
        <p:spPr>
          <a:xfrm>
            <a:off x="1645920" y="1737360"/>
            <a:ext cx="1097280" cy="15544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Era label 2"/>
          <p:cNvSpPr txBox="1"/>
          <p:nvPr/>
        </p:nvSpPr>
        <p:spPr>
          <a:xfrm>
            <a:off x="1645920" y="1737360"/>
            <a:ext cx="109728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Early optimism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1956–1973</a:t>
            </a:r>
            <a:endParaRPr lang="en-US" sz="1400" dirty="0"/>
          </a:p>
        </p:txBody>
      </p:sp>
      <p:sp>
        <p:nvSpPr>
          <p:cNvPr id="7" name="Era block 3"/>
          <p:cNvSpPr/>
          <p:nvPr/>
        </p:nvSpPr>
        <p:spPr>
          <a:xfrm>
            <a:off x="2834640" y="1737360"/>
            <a:ext cx="1097280" cy="155448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Era label 3"/>
          <p:cNvSpPr txBox="1"/>
          <p:nvPr/>
        </p:nvSpPr>
        <p:spPr>
          <a:xfrm>
            <a:off x="2834640" y="1737360"/>
            <a:ext cx="109728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First winter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1973–1980</a:t>
            </a:r>
            <a:endParaRPr lang="en-US" sz="1400" dirty="0"/>
          </a:p>
        </p:txBody>
      </p:sp>
      <p:sp>
        <p:nvSpPr>
          <p:cNvPr id="9" name="Era block 4"/>
          <p:cNvSpPr/>
          <p:nvPr/>
        </p:nvSpPr>
        <p:spPr>
          <a:xfrm>
            <a:off x="4023360" y="1737360"/>
            <a:ext cx="1097280" cy="15544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Era label 4"/>
          <p:cNvSpPr txBox="1"/>
          <p:nvPr/>
        </p:nvSpPr>
        <p:spPr>
          <a:xfrm>
            <a:off x="4023360" y="1737360"/>
            <a:ext cx="109728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Expert systems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1980–1987</a:t>
            </a:r>
            <a:endParaRPr lang="en-US" sz="1400" dirty="0"/>
          </a:p>
        </p:txBody>
      </p:sp>
      <p:sp>
        <p:nvSpPr>
          <p:cNvPr id="11" name="Era block 5"/>
          <p:cNvSpPr/>
          <p:nvPr/>
        </p:nvSpPr>
        <p:spPr>
          <a:xfrm>
            <a:off x="5212080" y="1737360"/>
            <a:ext cx="1097280" cy="155448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Era label 5"/>
          <p:cNvSpPr txBox="1"/>
          <p:nvPr/>
        </p:nvSpPr>
        <p:spPr>
          <a:xfrm>
            <a:off x="5212080" y="1737360"/>
            <a:ext cx="109728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Second winter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1987–1993</a:t>
            </a:r>
            <a:endParaRPr lang="en-US" sz="1400" dirty="0"/>
          </a:p>
        </p:txBody>
      </p:sp>
      <p:sp>
        <p:nvSpPr>
          <p:cNvPr id="13" name="Era block 6"/>
          <p:cNvSpPr/>
          <p:nvPr/>
        </p:nvSpPr>
        <p:spPr>
          <a:xfrm>
            <a:off x="6400800" y="1737360"/>
            <a:ext cx="1097280" cy="15544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ra label 6"/>
          <p:cNvSpPr txBox="1"/>
          <p:nvPr/>
        </p:nvSpPr>
        <p:spPr>
          <a:xfrm>
            <a:off x="6400800" y="1737360"/>
            <a:ext cx="109728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Deep learning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2006–2017</a:t>
            </a:r>
            <a:endParaRPr lang="en-US" sz="1400" dirty="0"/>
          </a:p>
        </p:txBody>
      </p:sp>
      <p:sp>
        <p:nvSpPr>
          <p:cNvPr id="15" name="Era block 7"/>
          <p:cNvSpPr/>
          <p:nvPr/>
        </p:nvSpPr>
        <p:spPr>
          <a:xfrm>
            <a:off x="7589520" y="1737360"/>
            <a:ext cx="1097280" cy="155448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Era label 7"/>
          <p:cNvSpPr txBox="1"/>
          <p:nvPr/>
        </p:nvSpPr>
        <p:spPr>
          <a:xfrm>
            <a:off x="7589520" y="1737360"/>
            <a:ext cx="109728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Generative AI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2017–now</a:t>
            </a:r>
            <a:endParaRPr lang="en-US" sz="1400" dirty="0"/>
          </a:p>
        </p:txBody>
      </p:sp>
      <p:sp>
        <p:nvSpPr>
          <p:cNvPr id="17" name="Legend"/>
          <p:cNvSpPr txBox="1"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Red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eras were periods of progress and hype. </a:t>
            </a:r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Gray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eras were AI winters, when funding and interest collapsed.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Foundations: from theory to a new field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457200" y="1554480"/>
            <a:ext cx="1920240" cy="23774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 year 1"/>
          <p:cNvSpPr txBox="1"/>
          <p:nvPr/>
        </p:nvSpPr>
        <p:spPr>
          <a:xfrm>
            <a:off x="640080" y="1737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1943</a:t>
            </a:r>
            <a:endParaRPr lang="en-US" sz="2800" dirty="0"/>
          </a:p>
        </p:txBody>
      </p:sp>
      <p:sp>
        <p:nvSpPr>
          <p:cNvPr id="5" name="Card text 1"/>
          <p:cNvSpPr txBox="1"/>
          <p:nvPr/>
        </p:nvSpPr>
        <p:spPr>
          <a:xfrm>
            <a:off x="640080" y="23774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McCulloch and Pitts model an artificial neuron</a:t>
            </a:r>
            <a:endParaRPr lang="en-US" sz="1400" dirty="0"/>
          </a:p>
        </p:txBody>
      </p:sp>
      <p:sp>
        <p:nvSpPr>
          <p:cNvPr id="6" name="Card 2"/>
          <p:cNvSpPr/>
          <p:nvPr/>
        </p:nvSpPr>
        <p:spPr>
          <a:xfrm>
            <a:off x="2560320" y="1554480"/>
            <a:ext cx="1920240" cy="23774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rd year 2"/>
          <p:cNvSpPr txBox="1"/>
          <p:nvPr/>
        </p:nvSpPr>
        <p:spPr>
          <a:xfrm>
            <a:off x="2743200" y="1737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1950</a:t>
            </a:r>
            <a:endParaRPr lang="en-US" sz="2800" dirty="0"/>
          </a:p>
        </p:txBody>
      </p:sp>
      <p:sp>
        <p:nvSpPr>
          <p:cNvPr id="8" name="Card text 2"/>
          <p:cNvSpPr txBox="1"/>
          <p:nvPr/>
        </p:nvSpPr>
        <p:spPr>
          <a:xfrm>
            <a:off x="2743200" y="23774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Turing proposes the imitation game, now called the Turing Test</a:t>
            </a:r>
            <a:endParaRPr lang="en-US" sz="1400" dirty="0"/>
          </a:p>
        </p:txBody>
      </p:sp>
      <p:sp>
        <p:nvSpPr>
          <p:cNvPr id="9" name="Card 3"/>
          <p:cNvSpPr/>
          <p:nvPr/>
        </p:nvSpPr>
        <p:spPr>
          <a:xfrm>
            <a:off x="4663440" y="1554480"/>
            <a:ext cx="1920240" cy="23774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 year 3"/>
          <p:cNvSpPr txBox="1"/>
          <p:nvPr/>
        </p:nvSpPr>
        <p:spPr>
          <a:xfrm>
            <a:off x="4846320" y="1737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1956</a:t>
            </a:r>
            <a:endParaRPr lang="en-US" sz="2800" dirty="0"/>
          </a:p>
        </p:txBody>
      </p:sp>
      <p:sp>
        <p:nvSpPr>
          <p:cNvPr id="11" name="Card text 3"/>
          <p:cNvSpPr txBox="1"/>
          <p:nvPr/>
        </p:nvSpPr>
        <p:spPr>
          <a:xfrm>
            <a:off x="4846320" y="23774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Dartmouth Workshop coins “artificial intelligence”</a:t>
            </a:r>
            <a:endParaRPr lang="en-US" sz="1400" dirty="0"/>
          </a:p>
        </p:txBody>
      </p:sp>
      <p:sp>
        <p:nvSpPr>
          <p:cNvPr id="12" name="Card 4"/>
          <p:cNvSpPr/>
          <p:nvPr/>
        </p:nvSpPr>
        <p:spPr>
          <a:xfrm>
            <a:off x="6766560" y="1554480"/>
            <a:ext cx="1920240" cy="23774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ard year 4"/>
          <p:cNvSpPr txBox="1"/>
          <p:nvPr/>
        </p:nvSpPr>
        <p:spPr>
          <a:xfrm>
            <a:off x="6949440" y="1737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1958</a:t>
            </a:r>
            <a:endParaRPr lang="en-US" sz="2800" dirty="0"/>
          </a:p>
        </p:txBody>
      </p:sp>
      <p:sp>
        <p:nvSpPr>
          <p:cNvPr id="14" name="Card text 4"/>
          <p:cNvSpPr txBox="1"/>
          <p:nvPr/>
        </p:nvSpPr>
        <p:spPr>
          <a:xfrm>
            <a:off x="6949440" y="23774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Rosenblatt demonstrates the Perceptron, an early trainable network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Early optimism, then the first AI winter</a:t>
            </a:r>
            <a:endParaRPr lang="en-US" sz="3200" dirty="0"/>
          </a:p>
        </p:txBody>
      </p:sp>
      <p:sp>
        <p:nvSpPr>
          <p:cNvPr id="3" name="Entry year 1"/>
          <p:cNvSpPr txBox="1"/>
          <p:nvPr/>
        </p:nvSpPr>
        <p:spPr>
          <a:xfrm>
            <a:off x="45720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1966</a:t>
            </a:r>
            <a:endParaRPr lang="en-US" sz="2200" dirty="0"/>
          </a:p>
        </p:txBody>
      </p:sp>
      <p:sp>
        <p:nvSpPr>
          <p:cNvPr id="4" name="Entry text 1"/>
          <p:cNvSpPr txBox="1"/>
          <p:nvPr/>
        </p:nvSpPr>
        <p:spPr>
          <a:xfrm>
            <a:off x="1783080" y="1371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ELIZA, an early chatbot, imitates a therapist with pattern matching</a:t>
            </a:r>
            <a:endParaRPr lang="en-US" sz="1400" dirty="0"/>
          </a:p>
        </p:txBody>
      </p:sp>
      <p:sp>
        <p:nvSpPr>
          <p:cNvPr id="5" name="Entry year 2"/>
          <p:cNvSpPr txBox="1"/>
          <p:nvPr/>
        </p:nvSpPr>
        <p:spPr>
          <a:xfrm>
            <a:off x="457200" y="2423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1969</a:t>
            </a:r>
            <a:endParaRPr lang="en-US" sz="2200" dirty="0"/>
          </a:p>
        </p:txBody>
      </p:sp>
      <p:sp>
        <p:nvSpPr>
          <p:cNvPr id="6" name="Entry text 2"/>
          <p:cNvSpPr txBox="1"/>
          <p:nvPr/>
        </p:nvSpPr>
        <p:spPr>
          <a:xfrm>
            <a:off x="1783080" y="24231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Minsky and Papert show the limits of single-layer networks</a:t>
            </a:r>
            <a:endParaRPr lang="en-US" sz="1400" dirty="0"/>
          </a:p>
        </p:txBody>
      </p:sp>
      <p:sp>
        <p:nvSpPr>
          <p:cNvPr id="7" name="Entry year 3"/>
          <p:cNvSpPr txBox="1"/>
          <p:nvPr/>
        </p:nvSpPr>
        <p:spPr>
          <a:xfrm>
            <a:off x="457200" y="3474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1973</a:t>
            </a:r>
            <a:endParaRPr lang="en-US" sz="2200" dirty="0"/>
          </a:p>
        </p:txBody>
      </p:sp>
      <p:sp>
        <p:nvSpPr>
          <p:cNvPr id="8" name="Entry text 3"/>
          <p:cNvSpPr txBox="1"/>
          <p:nvPr/>
        </p:nvSpPr>
        <p:spPr>
          <a:xfrm>
            <a:off x="1783080" y="3474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Lighthill Report and DARPA cuts shrink funding</a:t>
            </a:r>
            <a:endParaRPr lang="en-US" sz="1400" dirty="0"/>
          </a:p>
        </p:txBody>
      </p:sp>
      <p:sp>
        <p:nvSpPr>
          <p:cNvPr id="9" name="Winter panel"/>
          <p:cNvSpPr/>
          <p:nvPr/>
        </p:nvSpPr>
        <p:spPr>
          <a:xfrm>
            <a:off x="4754880" y="1280160"/>
            <a:ext cx="3931920" cy="3200400"/>
          </a:xfrm>
          <a:prstGeom prst="roundRect">
            <a:avLst>
              <a:gd name="adj" fmla="val 2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Panel title"/>
          <p:cNvSpPr txBox="1"/>
          <p:nvPr/>
        </p:nvSpPr>
        <p:spPr>
          <a:xfrm>
            <a:off x="502920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AI winter, 1973–1980</a:t>
            </a:r>
            <a:endParaRPr lang="en-US" sz="2000" dirty="0"/>
          </a:p>
        </p:txBody>
      </p:sp>
      <p:sp>
        <p:nvSpPr>
          <p:cNvPr id="11" name="Panel body"/>
          <p:cNvSpPr txBox="1"/>
          <p:nvPr/>
        </p:nvSpPr>
        <p:spPr>
          <a:xfrm>
            <a:off x="5029200" y="192024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Causes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Promises went unmet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Computing power and memory were limited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Impacts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Funding cut in the US and UK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Labs shrank; researchers moved 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Expert systems boom and the second winter</a:t>
            </a:r>
            <a:endParaRPr lang="en-US" sz="3200" dirty="0"/>
          </a:p>
        </p:txBody>
      </p:sp>
      <p:sp>
        <p:nvSpPr>
          <p:cNvPr id="3" name="Entry year 1"/>
          <p:cNvSpPr txBox="1"/>
          <p:nvPr/>
        </p:nvSpPr>
        <p:spPr>
          <a:xfrm>
            <a:off x="45720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1980s</a:t>
            </a:r>
            <a:endParaRPr lang="en-US" sz="2200" dirty="0"/>
          </a:p>
        </p:txBody>
      </p:sp>
      <p:sp>
        <p:nvSpPr>
          <p:cNvPr id="4" name="Entry text 1"/>
          <p:cNvSpPr txBox="1"/>
          <p:nvPr/>
        </p:nvSpPr>
        <p:spPr>
          <a:xfrm>
            <a:off x="1783080" y="1371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Expert systems such as XCON bring commercial success</a:t>
            </a:r>
            <a:endParaRPr lang="en-US" sz="1400" dirty="0"/>
          </a:p>
        </p:txBody>
      </p:sp>
      <p:sp>
        <p:nvSpPr>
          <p:cNvPr id="5" name="Entry year 2"/>
          <p:cNvSpPr txBox="1"/>
          <p:nvPr/>
        </p:nvSpPr>
        <p:spPr>
          <a:xfrm>
            <a:off x="457200" y="2423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1986</a:t>
            </a:r>
            <a:endParaRPr lang="en-US" sz="2200" dirty="0"/>
          </a:p>
        </p:txBody>
      </p:sp>
      <p:sp>
        <p:nvSpPr>
          <p:cNvPr id="6" name="Entry text 2"/>
          <p:cNvSpPr txBox="1"/>
          <p:nvPr/>
        </p:nvSpPr>
        <p:spPr>
          <a:xfrm>
            <a:off x="1783080" y="24231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Backpropagation is popularized for multi-layer networks</a:t>
            </a:r>
            <a:endParaRPr lang="en-US" sz="1400" dirty="0"/>
          </a:p>
        </p:txBody>
      </p:sp>
      <p:sp>
        <p:nvSpPr>
          <p:cNvPr id="7" name="Entry year 3"/>
          <p:cNvSpPr txBox="1"/>
          <p:nvPr/>
        </p:nvSpPr>
        <p:spPr>
          <a:xfrm>
            <a:off x="457200" y="3474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1987</a:t>
            </a:r>
            <a:endParaRPr lang="en-US" sz="2200" dirty="0"/>
          </a:p>
        </p:txBody>
      </p:sp>
      <p:sp>
        <p:nvSpPr>
          <p:cNvPr id="8" name="Entry text 3"/>
          <p:cNvSpPr txBox="1"/>
          <p:nvPr/>
        </p:nvSpPr>
        <p:spPr>
          <a:xfrm>
            <a:off x="1783080" y="3474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Lisp machine market collapses</a:t>
            </a:r>
            <a:endParaRPr lang="en-US" sz="1400" dirty="0"/>
          </a:p>
        </p:txBody>
      </p:sp>
      <p:sp>
        <p:nvSpPr>
          <p:cNvPr id="9" name="Winter panel"/>
          <p:cNvSpPr/>
          <p:nvPr/>
        </p:nvSpPr>
        <p:spPr>
          <a:xfrm>
            <a:off x="4754880" y="1280160"/>
            <a:ext cx="3931920" cy="3200400"/>
          </a:xfrm>
          <a:prstGeom prst="roundRect">
            <a:avLst>
              <a:gd name="adj" fmla="val 2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Panel title"/>
          <p:cNvSpPr txBox="1"/>
          <p:nvPr/>
        </p:nvSpPr>
        <p:spPr>
          <a:xfrm>
            <a:off x="502920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AI winter, 1987–1993</a:t>
            </a:r>
            <a:endParaRPr lang="en-US" sz="2000" dirty="0"/>
          </a:p>
        </p:txBody>
      </p:sp>
      <p:sp>
        <p:nvSpPr>
          <p:cNvPr id="11" name="Panel body"/>
          <p:cNvSpPr txBox="1"/>
          <p:nvPr/>
        </p:nvSpPr>
        <p:spPr>
          <a:xfrm>
            <a:off x="5029200" y="192024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Causes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Specialized hardware lost to cheaper PCs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Expert systems were costly and brittle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Impacts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Companies failed and investment dried up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Many avoided the “AI” label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Machines beat human champions</a:t>
            </a:r>
            <a:endParaRPr lang="en-US" sz="3200" dirty="0"/>
          </a:p>
        </p:txBody>
      </p:sp>
      <p:sp>
        <p:nvSpPr>
          <p:cNvPr id="3" name="Stat card 1"/>
          <p:cNvSpPr/>
          <p:nvPr/>
        </p:nvSpPr>
        <p:spPr>
          <a:xfrm>
            <a:off x="457200" y="137160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year 1"/>
          <p:cNvSpPr txBox="1"/>
          <p:nvPr/>
        </p:nvSpPr>
        <p:spPr>
          <a:xfrm>
            <a:off x="685800" y="15087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1997</a:t>
            </a:r>
            <a:endParaRPr lang="en-US" sz="4800" dirty="0"/>
          </a:p>
        </p:txBody>
      </p:sp>
      <p:sp>
        <p:nvSpPr>
          <p:cNvPr id="5" name="Stat name 1"/>
          <p:cNvSpPr txBox="1"/>
          <p:nvPr/>
        </p:nvSpPr>
        <p:spPr>
          <a:xfrm>
            <a:off x="68580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Deep Blue</a:t>
            </a:r>
            <a:endParaRPr lang="en-US" sz="1800" dirty="0"/>
          </a:p>
        </p:txBody>
      </p:sp>
      <p:sp>
        <p:nvSpPr>
          <p:cNvPr id="6" name="Stat text 1"/>
          <p:cNvSpPr txBox="1"/>
          <p:nvPr/>
        </p:nvSpPr>
        <p:spPr>
          <a:xfrm>
            <a:off x="685800" y="2880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IBM’s chess computer defeats world champion Garry Kasparov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3291840" y="137160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year 2"/>
          <p:cNvSpPr txBox="1"/>
          <p:nvPr/>
        </p:nvSpPr>
        <p:spPr>
          <a:xfrm>
            <a:off x="3520440" y="15087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2011</a:t>
            </a:r>
            <a:endParaRPr lang="en-US" sz="4800" dirty="0"/>
          </a:p>
        </p:txBody>
      </p:sp>
      <p:sp>
        <p:nvSpPr>
          <p:cNvPr id="9" name="Stat name 2"/>
          <p:cNvSpPr txBox="1"/>
          <p:nvPr/>
        </p:nvSpPr>
        <p:spPr>
          <a:xfrm>
            <a:off x="352044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Watson</a:t>
            </a:r>
            <a:endParaRPr lang="en-US" sz="1800" dirty="0"/>
          </a:p>
        </p:txBody>
      </p:sp>
      <p:sp>
        <p:nvSpPr>
          <p:cNvPr id="10" name="Stat text 2"/>
          <p:cNvSpPr txBox="1"/>
          <p:nvPr/>
        </p:nvSpPr>
        <p:spPr>
          <a:xfrm>
            <a:off x="3520440" y="2880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IBM Watson wins Jeopardy! against human champions</a:t>
            </a:r>
            <a:endParaRPr lang="en-US" sz="1400" dirty="0"/>
          </a:p>
        </p:txBody>
      </p:sp>
      <p:sp>
        <p:nvSpPr>
          <p:cNvPr id="11" name="Stat card 3"/>
          <p:cNvSpPr/>
          <p:nvPr/>
        </p:nvSpPr>
        <p:spPr>
          <a:xfrm>
            <a:off x="6126480" y="137160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at year 3"/>
          <p:cNvSpPr txBox="1"/>
          <p:nvPr/>
        </p:nvSpPr>
        <p:spPr>
          <a:xfrm>
            <a:off x="6355080" y="15087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4800" dirty="0"/>
          </a:p>
        </p:txBody>
      </p:sp>
      <p:sp>
        <p:nvSpPr>
          <p:cNvPr id="13" name="Stat name 3"/>
          <p:cNvSpPr txBox="1"/>
          <p:nvPr/>
        </p:nvSpPr>
        <p:spPr>
          <a:xfrm>
            <a:off x="635508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AlphaGo</a:t>
            </a:r>
            <a:endParaRPr lang="en-US" sz="1800" dirty="0"/>
          </a:p>
        </p:txBody>
      </p:sp>
      <p:sp>
        <p:nvSpPr>
          <p:cNvPr id="14" name="Stat text 3"/>
          <p:cNvSpPr txBox="1"/>
          <p:nvPr/>
        </p:nvSpPr>
        <p:spPr>
          <a:xfrm>
            <a:off x="6355080" y="2880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DeepMind’s system defeats Go champion Lee Sedol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deep learning finally took off</a:t>
            </a:r>
            <a:endParaRPr lang="en-US" sz="3200" dirty="0"/>
          </a:p>
        </p:txBody>
      </p:sp>
      <p:sp>
        <p:nvSpPr>
          <p:cNvPr id="3" name="Driver card 1"/>
          <p:cNvSpPr/>
          <p:nvPr/>
        </p:nvSpPr>
        <p:spPr>
          <a:xfrm>
            <a:off x="457200" y="1280160"/>
            <a:ext cx="40233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river badge 1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Driver number 1"/>
          <p:cNvSpPr txBox="1"/>
          <p:nvPr/>
        </p:nvSpPr>
        <p:spPr>
          <a:xfrm>
            <a:off x="6400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Driver text 1"/>
          <p:cNvSpPr txBox="1"/>
          <p:nvPr/>
        </p:nvSpPr>
        <p:spPr>
          <a:xfrm>
            <a:off x="1371600" y="1389888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GPUs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Nvidia hardware made large networks practical; AlexNet won ImageNet in 2012</a:t>
            </a:r>
            <a:endParaRPr lang="en-US" sz="1600" dirty="0"/>
          </a:p>
        </p:txBody>
      </p:sp>
      <p:sp>
        <p:nvSpPr>
          <p:cNvPr id="7" name="Driver card 2"/>
          <p:cNvSpPr/>
          <p:nvPr/>
        </p:nvSpPr>
        <p:spPr>
          <a:xfrm>
            <a:off x="4663440" y="1280160"/>
            <a:ext cx="40233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Driver badge 2"/>
          <p:cNvSpPr/>
          <p:nvPr/>
        </p:nvSpPr>
        <p:spPr>
          <a:xfrm>
            <a:off x="484632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Driver number 2"/>
          <p:cNvSpPr txBox="1"/>
          <p:nvPr/>
        </p:nvSpPr>
        <p:spPr>
          <a:xfrm>
            <a:off x="48463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Driver text 2"/>
          <p:cNvSpPr txBox="1"/>
          <p:nvPr/>
        </p:nvSpPr>
        <p:spPr>
          <a:xfrm>
            <a:off x="5577840" y="1389888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Cloud computing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AWS launched in 2006; Azure and Google Cloud followed</a:t>
            </a:r>
            <a:endParaRPr lang="en-US" sz="1600" dirty="0"/>
          </a:p>
        </p:txBody>
      </p:sp>
      <p:sp>
        <p:nvSpPr>
          <p:cNvPr id="11" name="Driver card 3"/>
          <p:cNvSpPr/>
          <p:nvPr/>
        </p:nvSpPr>
        <p:spPr>
          <a:xfrm>
            <a:off x="457200" y="2651760"/>
            <a:ext cx="40233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Driver badge 3"/>
          <p:cNvSpPr/>
          <p:nvPr/>
        </p:nvSpPr>
        <p:spPr>
          <a:xfrm>
            <a:off x="640080" y="2971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Driver number 3"/>
          <p:cNvSpPr txBox="1"/>
          <p:nvPr/>
        </p:nvSpPr>
        <p:spPr>
          <a:xfrm>
            <a:off x="64008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Driver text 3"/>
          <p:cNvSpPr txBox="1"/>
          <p:nvPr/>
        </p:nvSpPr>
        <p:spPr>
          <a:xfrm>
            <a:off x="1371600" y="2761488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internet and datasets like ImageNet supplied training data</a:t>
            </a:r>
            <a:endParaRPr lang="en-US" sz="1600" dirty="0"/>
          </a:p>
        </p:txBody>
      </p:sp>
      <p:sp>
        <p:nvSpPr>
          <p:cNvPr id="15" name="Driver card 4"/>
          <p:cNvSpPr/>
          <p:nvPr/>
        </p:nvSpPr>
        <p:spPr>
          <a:xfrm>
            <a:off x="4663440" y="2651760"/>
            <a:ext cx="40233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Driver badge 4"/>
          <p:cNvSpPr/>
          <p:nvPr/>
        </p:nvSpPr>
        <p:spPr>
          <a:xfrm>
            <a:off x="4846320" y="2971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Driver number 4"/>
          <p:cNvSpPr txBox="1"/>
          <p:nvPr/>
        </p:nvSpPr>
        <p:spPr>
          <a:xfrm>
            <a:off x="484632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Driver text 4"/>
          <p:cNvSpPr txBox="1"/>
          <p:nvPr/>
        </p:nvSpPr>
        <p:spPr>
          <a:xfrm>
            <a:off x="5577840" y="2761488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Algorithms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Backpropagation, convolutional networks, and the 2017 Transformer</a:t>
            </a:r>
            <a:endParaRPr lang="en-US" sz="1600" dirty="0"/>
          </a:p>
        </p:txBody>
      </p:sp>
      <p:sp>
        <p:nvSpPr>
          <p:cNvPr id="19" name="Key figures"/>
          <p:cNvSpPr txBox="1"/>
          <p:nvPr/>
        </p:nvSpPr>
        <p:spPr>
          <a:xfrm>
            <a:off x="45720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Key figures: Geoffrey Hinton, Yann LeCun, Yoshua Bengio, Ian Goodfellow, Demis Hassabis, Ilya Sutskever, Fei-Fei Li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generative AI era</a:t>
            </a:r>
            <a:endParaRPr lang="en-US" sz="3200" dirty="0"/>
          </a:p>
        </p:txBody>
      </p:sp>
      <p:sp>
        <p:nvSpPr>
          <p:cNvPr id="3" name="Timeline line"/>
          <p:cNvSpPr/>
          <p:nvPr/>
        </p:nvSpPr>
        <p:spPr>
          <a:xfrm>
            <a:off x="548640" y="2468880"/>
            <a:ext cx="804672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4" name="Era year 1"/>
          <p:cNvSpPr txBox="1"/>
          <p:nvPr/>
        </p:nvSpPr>
        <p:spPr>
          <a:xfrm>
            <a:off x="457200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2014</a:t>
            </a:r>
            <a:endParaRPr lang="en-US" sz="2000" dirty="0"/>
          </a:p>
        </p:txBody>
      </p:sp>
      <p:sp>
        <p:nvSpPr>
          <p:cNvPr id="5" name="Era dot 1"/>
          <p:cNvSpPr/>
          <p:nvPr/>
        </p:nvSpPr>
        <p:spPr>
          <a:xfrm>
            <a:off x="457200" y="237744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Era text 1"/>
          <p:cNvSpPr txBox="1"/>
          <p:nvPr/>
        </p:nvSpPr>
        <p:spPr>
          <a:xfrm>
            <a:off x="457200" y="274320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GANs introduced by Ian Goodfellow</a:t>
            </a:r>
            <a:endParaRPr lang="en-US" sz="1400" dirty="0"/>
          </a:p>
        </p:txBody>
      </p:sp>
      <p:sp>
        <p:nvSpPr>
          <p:cNvPr id="7" name="Era year 2"/>
          <p:cNvSpPr txBox="1"/>
          <p:nvPr/>
        </p:nvSpPr>
        <p:spPr>
          <a:xfrm>
            <a:off x="2103120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2000" dirty="0"/>
          </a:p>
        </p:txBody>
      </p:sp>
      <p:sp>
        <p:nvSpPr>
          <p:cNvPr id="8" name="Era dot 2"/>
          <p:cNvSpPr/>
          <p:nvPr/>
        </p:nvSpPr>
        <p:spPr>
          <a:xfrm>
            <a:off x="2103120" y="237744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Era text 2"/>
          <p:cNvSpPr txBox="1"/>
          <p:nvPr/>
        </p:nvSpPr>
        <p:spPr>
          <a:xfrm>
            <a:off x="2103120" y="274320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Transformer architecture from Google</a:t>
            </a:r>
            <a:endParaRPr lang="en-US" sz="1400" dirty="0"/>
          </a:p>
        </p:txBody>
      </p:sp>
      <p:sp>
        <p:nvSpPr>
          <p:cNvPr id="10" name="Era year 3"/>
          <p:cNvSpPr txBox="1"/>
          <p:nvPr/>
        </p:nvSpPr>
        <p:spPr>
          <a:xfrm>
            <a:off x="3749040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2018–20</a:t>
            </a:r>
            <a:endParaRPr lang="en-US" sz="2000" dirty="0"/>
          </a:p>
        </p:txBody>
      </p:sp>
      <p:sp>
        <p:nvSpPr>
          <p:cNvPr id="11" name="Era dot 3"/>
          <p:cNvSpPr/>
          <p:nvPr/>
        </p:nvSpPr>
        <p:spPr>
          <a:xfrm>
            <a:off x="3749040" y="237744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Era text 3"/>
          <p:cNvSpPr txBox="1"/>
          <p:nvPr/>
        </p:nvSpPr>
        <p:spPr>
          <a:xfrm>
            <a:off x="3749040" y="274320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BERT, GPT-2, and GPT-3 show the power of scale</a:t>
            </a:r>
            <a:endParaRPr lang="en-US" sz="1400" dirty="0"/>
          </a:p>
        </p:txBody>
      </p:sp>
      <p:sp>
        <p:nvSpPr>
          <p:cNvPr id="13" name="Era year 4"/>
          <p:cNvSpPr txBox="1"/>
          <p:nvPr/>
        </p:nvSpPr>
        <p:spPr>
          <a:xfrm>
            <a:off x="5394960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2000" dirty="0"/>
          </a:p>
        </p:txBody>
      </p:sp>
      <p:sp>
        <p:nvSpPr>
          <p:cNvPr id="14" name="Era dot 4"/>
          <p:cNvSpPr/>
          <p:nvPr/>
        </p:nvSpPr>
        <p:spPr>
          <a:xfrm>
            <a:off x="5394960" y="237744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Era text 4"/>
          <p:cNvSpPr txBox="1"/>
          <p:nvPr/>
        </p:nvSpPr>
        <p:spPr>
          <a:xfrm>
            <a:off x="5394960" y="274320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ChatGPT launches and reaches mass adoption</a:t>
            </a:r>
            <a:endParaRPr lang="en-US" sz="1400" dirty="0"/>
          </a:p>
        </p:txBody>
      </p:sp>
      <p:sp>
        <p:nvSpPr>
          <p:cNvPr id="16" name="Era year 5"/>
          <p:cNvSpPr txBox="1"/>
          <p:nvPr/>
        </p:nvSpPr>
        <p:spPr>
          <a:xfrm>
            <a:off x="7040880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2023–24</a:t>
            </a:r>
            <a:endParaRPr lang="en-US" sz="2000" dirty="0"/>
          </a:p>
        </p:txBody>
      </p:sp>
      <p:sp>
        <p:nvSpPr>
          <p:cNvPr id="17" name="Era dot 5"/>
          <p:cNvSpPr/>
          <p:nvPr/>
        </p:nvSpPr>
        <p:spPr>
          <a:xfrm>
            <a:off x="7040880" y="237744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ra text 5"/>
          <p:cNvSpPr txBox="1"/>
          <p:nvPr/>
        </p:nvSpPr>
        <p:spPr>
          <a:xfrm>
            <a:off x="7040880" y="274320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GPT-4, Claude, Gemini, Llama; AI work wins Nobel Prizes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Leading AI companies and models</a:t>
            </a:r>
            <a:endParaRPr lang="en-US" sz="3200" dirty="0"/>
          </a:p>
        </p:txBody>
      </p:sp>
      <p:graphicFrame>
        <p:nvGraphicFramePr>
          <p:cNvPr id="10" name="Compani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3291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Company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Notable models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OpenAI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GPT series, ChatGPT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Started the 2022 consumer wave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Google DeepMind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Gemini, AlphaGo, AlphaFold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Invented the Transformer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Anthropic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Claude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Safety-focused AI company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Meta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Llama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Open-weight models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Microsoft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Copilot, Azure AI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Cloud provider, OpenAI partner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Nvidia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GPUs, CUDA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Hardware for AI training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57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What the timeline teaches</a:t>
            </a:r>
            <a:endParaRPr lang="en-US" sz="3400" dirty="0"/>
          </a:p>
        </p:txBody>
      </p:sp>
      <p:sp>
        <p:nvSpPr>
          <p:cNvPr id="3" name="Takeaway card 1"/>
          <p:cNvSpPr/>
          <p:nvPr/>
        </p:nvSpPr>
        <p:spPr>
          <a:xfrm>
            <a:off x="640080" y="1645920"/>
            <a:ext cx="2514600" cy="2651760"/>
          </a:xfrm>
          <a:prstGeom prst="roundRect">
            <a:avLst>
              <a:gd name="adj" fmla="val 2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akeaway title 1"/>
          <p:cNvSpPr txBox="1"/>
          <p:nvPr/>
        </p:nvSpPr>
        <p:spPr>
          <a:xfrm>
            <a:off x="822960" y="1828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 cycles repeat</a:t>
            </a:r>
            <a:endParaRPr lang="en-US" sz="1800" dirty="0"/>
          </a:p>
        </p:txBody>
      </p:sp>
      <p:sp>
        <p:nvSpPr>
          <p:cNvPr id="5" name="Takeaway text 1"/>
          <p:cNvSpPr txBox="1"/>
          <p:nvPr/>
        </p:nvSpPr>
        <p:spPr>
          <a:xfrm>
            <a:off x="822960" y="2743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Bold promises without results led to both AI winters.</a:t>
            </a:r>
            <a:endParaRPr lang="en-US" sz="1400" dirty="0"/>
          </a:p>
        </p:txBody>
      </p:sp>
      <p:sp>
        <p:nvSpPr>
          <p:cNvPr id="6" name="Takeaway card 2"/>
          <p:cNvSpPr/>
          <p:nvPr/>
        </p:nvSpPr>
        <p:spPr>
          <a:xfrm>
            <a:off x="3337560" y="1645920"/>
            <a:ext cx="2514600" cy="2651760"/>
          </a:xfrm>
          <a:prstGeom prst="roundRect">
            <a:avLst>
              <a:gd name="adj" fmla="val 2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akeaway title 2"/>
          <p:cNvSpPr txBox="1"/>
          <p:nvPr/>
        </p:nvSpPr>
        <p:spPr>
          <a:xfrm>
            <a:off x="3520440" y="1828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matters</a:t>
            </a:r>
            <a:endParaRPr lang="en-US" sz="1800" dirty="0"/>
          </a:p>
        </p:txBody>
      </p:sp>
      <p:sp>
        <p:nvSpPr>
          <p:cNvPr id="8" name="Takeaway text 2"/>
          <p:cNvSpPr txBox="1"/>
          <p:nvPr/>
        </p:nvSpPr>
        <p:spPr>
          <a:xfrm>
            <a:off x="3520440" y="2743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GPUs, cloud, and data mattered as much as new algorithms.</a:t>
            </a:r>
            <a:endParaRPr lang="en-US" sz="1400" dirty="0"/>
          </a:p>
        </p:txBody>
      </p:sp>
      <p:sp>
        <p:nvSpPr>
          <p:cNvPr id="9" name="Takeaway card 3"/>
          <p:cNvSpPr/>
          <p:nvPr/>
        </p:nvSpPr>
        <p:spPr>
          <a:xfrm>
            <a:off x="6035040" y="1645920"/>
            <a:ext cx="2514600" cy="2651760"/>
          </a:xfrm>
          <a:prstGeom prst="roundRect">
            <a:avLst>
              <a:gd name="adj" fmla="val 2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akeaway title 3"/>
          <p:cNvSpPr txBox="1"/>
          <p:nvPr/>
        </p:nvSpPr>
        <p:spPr>
          <a:xfrm>
            <a:off x="6217920" y="1828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stay responsible</a:t>
            </a:r>
            <a:endParaRPr lang="en-US" sz="1800" dirty="0"/>
          </a:p>
        </p:txBody>
      </p:sp>
      <p:sp>
        <p:nvSpPr>
          <p:cNvPr id="11" name="Takeaway text 3"/>
          <p:cNvSpPr txBox="1"/>
          <p:nvPr/>
        </p:nvSpPr>
        <p:spPr>
          <a:xfrm>
            <a:off x="6217920" y="2743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Tools get more capable, but people choose how to use them.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</a:t>
            </a:r>
            <a:endParaRPr lang="en-US" sz="3200" dirty="0"/>
          </a:p>
        </p:txBody>
      </p:sp>
      <p:sp>
        <p:nvSpPr>
          <p:cNvPr id="3" name="Reference list"/>
          <p:cNvSpPr txBox="1"/>
          <p:nvPr/>
        </p:nvSpPr>
        <p:spPr>
          <a:xfrm>
            <a:off x="457200" y="137160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Bender, E., &amp; Our World in Data. (n.d.).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A brief history of artificial intelligence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. Our World in Data. https://ourworldindata.org/brief-history-of-ai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IEEE Computer Society. (n.d.).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The evolution of AI: From foundations to future prospects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. https://www.computer.org/publications/tech-news/research/evolution-of-ai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Putchuon - “Put You On.” (2024, May 30).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The entire history of artificial intelligence (last 100 years)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[Video]. YouTube. https://www.youtube.com/watch?v=mSd9nmPM7Vg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Timeline">
  <a:themeElements>
    <a:clrScheme name="AI Timeline">
      <a:dk1>
        <a:srgbClr val="1F2430"/>
      </a:dk1>
      <a:lt1>
        <a:srgbClr val="FFFFFF"/>
      </a:lt1>
      <a:dk2>
        <a:srgbClr val="2B3245"/>
      </a:dk2>
      <a:lt2>
        <a:srgbClr val="F3F4F7"/>
      </a:lt2>
      <a:accent1>
        <a:srgbClr val="A6192E"/>
      </a:accent1>
      <a:accent2>
        <a:srgbClr val="3E4A6B"/>
      </a:accent2>
      <a:accent3>
        <a:srgbClr val="7A8299"/>
      </a:accent3>
      <a:accent4>
        <a:srgbClr val="E3B23C"/>
      </a:accent4>
      <a:accent5>
        <a:srgbClr val="2E7D6B"/>
      </a:accent5>
      <a:accent6>
        <a:srgbClr val="D9DCE3"/>
      </a:accent6>
      <a:hlink>
        <a:srgbClr val="A6192E"/>
      </a:hlink>
      <a:folHlink>
        <a:srgbClr val="7A8299"/>
      </a:folHlink>
    </a:clrScheme>
    <a:fontScheme name="AI Timeli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Timeline of Artificial Intelligence</dc:title>
  <dc:subject>PptxGenJS Presentation</dc:subject>
  <dc:creator>Student</dc:creator>
  <cp:lastModifiedBy>Student</cp:lastModifiedBy>
  <cp:revision>1</cp:revision>
  <dcterms:created xsi:type="dcterms:W3CDTF">2026-10-26T03:23:12Z</dcterms:created>
  <dcterms:modified xsi:type="dcterms:W3CDTF">2026-10-26T03:23:12Z</dcterms:modified>
</cp:coreProperties>
</file>